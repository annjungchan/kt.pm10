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ltQPaeXBYqi0p4rwis3XGZbu/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266" y="54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2256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57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49d0839e0a_7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g149d0839e0a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917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7047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0787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1972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9d0839e0a_7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149d0839e0a_7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894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9d0839e0a_7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149d0839e0a_7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7950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9d0839e0a_13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149d0839e0a_13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806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9d0839e0a_7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149d0839e0a_7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554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9d0839e0a_13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49d0839e0a_13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5675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9972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9d0839e0a_1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149d0839e0a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1583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9d0839e0a_1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LinearRegression을 사용해봤지만 Catboost보다 정확도가 현저히 떨어졌다.</a:t>
            </a:r>
            <a:endParaRPr/>
          </a:p>
        </p:txBody>
      </p:sp>
      <p:sp>
        <p:nvSpPr>
          <p:cNvPr id="175" name="Google Shape;175;g149d0839e0a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1616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9d0839e0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149d0839e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2218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9d0839e0a_1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149d0839e0a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8192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9d0839e0a_13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149d0839e0a_1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6647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9d0839e0a_7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149d0839e0a_7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733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9d0839e0a_7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149d0839e0a_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1820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9d0839e0a_7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149d0839e0a_7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0251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9d0839e0a_7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149d0839e0a_7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8397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9d0839e0a_7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149d0839e0a_7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5006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49d0839e0a_7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g149d0839e0a_7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3960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49d0839e0a_7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149d0839e0a_7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95970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49d0839e0a_7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g149d0839e0a_7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841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9d0839e0a_8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g149d0839e0a_8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488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49d0839e0a_8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g149d0839e0a_8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9858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920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_Course Name">
  <p:cSld name="Front Cover_Course Nam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6000" cy="686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9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7543" y="386869"/>
            <a:ext cx="279859" cy="25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" name="Google Shape;16;p10"/>
          <p:cNvCxnSpPr/>
          <p:nvPr/>
        </p:nvCxnSpPr>
        <p:spPr>
          <a:xfrm rot="10800000">
            <a:off x="0" y="1111048"/>
            <a:ext cx="9906004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20220" y="121885"/>
            <a:ext cx="1068038" cy="243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10"/>
          <p:cNvCxnSpPr/>
          <p:nvPr/>
        </p:nvCxnSpPr>
        <p:spPr>
          <a:xfrm>
            <a:off x="449614" y="6424935"/>
            <a:ext cx="90036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10"/>
          <p:cNvSpPr txBox="1"/>
          <p:nvPr/>
        </p:nvSpPr>
        <p:spPr>
          <a:xfrm>
            <a:off x="8839176" y="6503323"/>
            <a:ext cx="614036" cy="12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831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31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449612" y="6498004"/>
            <a:ext cx="288971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ko-KR" sz="1050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10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1050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 txBox="1">
            <a:spLocks noGrp="1"/>
          </p:cNvSpPr>
          <p:nvPr>
            <p:ph type="body" idx="1"/>
          </p:nvPr>
        </p:nvSpPr>
        <p:spPr>
          <a:xfrm>
            <a:off x="449612" y="1338453"/>
            <a:ext cx="8740142" cy="12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1" descr="저성장&amp;#39;에 발목 잡힌 &amp;#39;한국 제조업&amp;#39;… &amp;#39;AI&amp;#39;와 사랑에 빠질 수 있을까 - 인더스트리뉴스"/>
          <p:cNvPicPr preferRelativeResize="0"/>
          <p:nvPr/>
        </p:nvPicPr>
        <p:blipFill rotWithShape="1">
          <a:blip r:embed="rId2">
            <a:alphaModFix amt="49000"/>
          </a:blip>
          <a:srcRect r="14659"/>
          <a:stretch/>
        </p:blipFill>
        <p:spPr>
          <a:xfrm>
            <a:off x="1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/>
          <p:nvPr/>
        </p:nvSpPr>
        <p:spPr>
          <a:xfrm>
            <a:off x="0" y="-1891"/>
            <a:ext cx="9906000" cy="6858000"/>
          </a:xfrm>
          <a:prstGeom prst="rect">
            <a:avLst/>
          </a:prstGeom>
          <a:solidFill>
            <a:srgbClr val="01BCB5">
              <a:alpha val="2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9364" y="404872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1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21534"/>
            <a:ext cx="279859" cy="25933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1"/>
          <p:cNvSpPr/>
          <p:nvPr/>
        </p:nvSpPr>
        <p:spPr>
          <a:xfrm>
            <a:off x="6397277" y="3492798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1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326" y="2907768"/>
            <a:ext cx="1927553" cy="49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hapter &amp; Sub Unit">
  <p:cSld name="1_Chapter &amp; Sub Uni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12"/>
          <p:cNvCxnSpPr/>
          <p:nvPr/>
        </p:nvCxnSpPr>
        <p:spPr>
          <a:xfrm>
            <a:off x="570046" y="6438029"/>
            <a:ext cx="877997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9906001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/>
          <p:nvPr/>
        </p:nvSpPr>
        <p:spPr>
          <a:xfrm>
            <a:off x="1" y="0"/>
            <a:ext cx="437030" cy="6858000"/>
          </a:xfrm>
          <a:prstGeom prst="rect">
            <a:avLst/>
          </a:prstGeom>
          <a:solidFill>
            <a:srgbClr val="05686C"/>
          </a:solidFill>
          <a:ln>
            <a:noFill/>
          </a:ln>
        </p:spPr>
        <p:txBody>
          <a:bodyPr spcFirstLastPara="1" wrap="square" lIns="0" tIns="34975" rIns="0" bIns="34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218758" y="1189178"/>
            <a:ext cx="9468487" cy="171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95300" y="27432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350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350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350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350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350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35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35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35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35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967" algn="l" rtl="0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2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0042" algn="l" rtl="0">
              <a:lnSpc>
                <a:spcPct val="90000"/>
              </a:lnSpc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17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7660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5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7660" algn="l" rtl="0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5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9755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9755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9755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9755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218758" y="2084172"/>
            <a:ext cx="9468487" cy="110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57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671706" y="2240542"/>
            <a:ext cx="370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2000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292137" y="6204683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49443" y="2890841"/>
            <a:ext cx="8870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2차 미니프로젝트_</a:t>
            </a:r>
            <a:r>
              <a:rPr lang="ko-KR" sz="4000">
                <a:solidFill>
                  <a:schemeClr val="dk1"/>
                </a:solidFill>
              </a:rPr>
              <a:t>미세먼지 농도 예측 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1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7186" y="5619653"/>
            <a:ext cx="1927553" cy="49667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/>
          <p:nvPr/>
        </p:nvSpPr>
        <p:spPr>
          <a:xfrm>
            <a:off x="5861902" y="4200516"/>
            <a:ext cx="3657600" cy="457200"/>
          </a:xfrm>
          <a:prstGeom prst="rect">
            <a:avLst/>
          </a:prstGeom>
          <a:noFill/>
          <a:ln w="9525" cap="flat" cmpd="sng">
            <a:solidFill>
              <a:srgbClr val="009B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sz="1600" b="1">
                <a:solidFill>
                  <a:schemeClr val="dk1"/>
                </a:solidFill>
              </a:rPr>
              <a:t>8</a:t>
            </a:r>
            <a:r>
              <a:rPr lang="ko-K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 </a:t>
            </a:r>
            <a:r>
              <a:rPr lang="ko-KR" sz="1600" b="1">
                <a:solidFill>
                  <a:schemeClr val="dk1"/>
                </a:solidFill>
              </a:rPr>
              <a:t>26</a:t>
            </a:r>
            <a:r>
              <a:rPr lang="ko-K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9d0839e0a_7_6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49d0839e0a_7_60"/>
          <p:cNvSpPr/>
          <p:nvPr/>
        </p:nvSpPr>
        <p:spPr>
          <a:xfrm>
            <a:off x="432620" y="1433333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Data Leakage에 유의할 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149d0839e0a_7_60"/>
          <p:cNvSpPr/>
          <p:nvPr/>
        </p:nvSpPr>
        <p:spPr>
          <a:xfrm>
            <a:off x="962100" y="1788749"/>
            <a:ext cx="82950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Imputer 사용 불가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Imputer의 경우 결측치가 없는 칼럼을 이용해서  결측치가 존재하는 칼럼을 예측하여 보간하는 방법이다.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이 때, 결측치가 없는 칼럼을 이용할 때, 미래 데이터까지 모두 고려가 되기 때문에 Data Leakage가 발생한다.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우리는 미래의 값을 끌어오면 안되므로, Imputer를 사용할 수 없다.</a:t>
            </a:r>
            <a:endParaRPr/>
          </a:p>
        </p:txBody>
      </p:sp>
      <p:sp>
        <p:nvSpPr>
          <p:cNvPr id="58" name="Google Shape;58;g149d0839e0a_7_60"/>
          <p:cNvSpPr/>
          <p:nvPr/>
        </p:nvSpPr>
        <p:spPr>
          <a:xfrm>
            <a:off x="962100" y="3368924"/>
            <a:ext cx="82950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Interpolate 사용 불가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Interpolate에는 많은 방법이 있지만, 우리가 흔히 쓰는 선형 보간법은 사용이 불가능하다.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t, t+1, t+2시점에서 t+1 시점이 결측일 때, t시점과 t+2시점의 관계를 이용하여 추론하기 때문에, t+2시점이 Interpolate에서 이용된다는 점에서, 이는 Data Leakage가 발생한다.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우리는 미래의 값을 끌어오고 있으므로, interpolate를 사용할 수 없다.</a:t>
            </a:r>
            <a:endParaRPr/>
          </a:p>
        </p:txBody>
      </p:sp>
      <p:sp>
        <p:nvSpPr>
          <p:cNvPr id="59" name="Google Shape;59;g149d0839e0a_7_60"/>
          <p:cNvSpPr/>
          <p:nvPr/>
        </p:nvSpPr>
        <p:spPr>
          <a:xfrm>
            <a:off x="962100" y="4821825"/>
            <a:ext cx="82950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최대한 ffill 만 사용할 것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ffill을 사용해야 과거의 데이터만을 끌어와서 결측을 보간할 수 있다.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/>
              <a:t>우리가 가용할 수 있는 모든 과거 데이터를 이용해서 결측치를 보간해야 한다.</a:t>
            </a:r>
            <a:endParaRPr/>
          </a:p>
          <a:p>
            <a: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b="1"/>
              <a:t>미래데이터는 절대로 사용할 수 없다.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167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536290" y="1820213"/>
            <a:ext cx="1954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2109" marR="0" lvl="0" indent="-25210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대기 데이터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32626" y="1277575"/>
            <a:ext cx="628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대기 데이터와 날씨 데이터에서 필요없는 열을 제거한다.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288" y="2236699"/>
            <a:ext cx="2428875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5415515" y="1820213"/>
            <a:ext cx="1954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날씨 데이터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5513" y="2236688"/>
            <a:ext cx="143827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949" y="5522375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1333375" y="5511250"/>
            <a:ext cx="78879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대기 데이터에서 지역, 망, 측정소코드 ,측정소 명, 주소를 제거하고,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날씨 데이터에서 지점과 지점명을 제거한다.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167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10251" y="1289275"/>
            <a:ext cx="627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결측치 파악 : 대기 데이터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75" y="1691325"/>
            <a:ext cx="4061401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4953001" y="1289275"/>
            <a:ext cx="627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결측치 파악 : 날씨 데이터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400" y="1691325"/>
            <a:ext cx="4128800" cy="273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497225" y="4710750"/>
            <a:ext cx="3838500" cy="12633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대기 데이터의 경우 모든 결측치가 5% 미만임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ffill 사용 가능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224538" y="4663925"/>
            <a:ext cx="3838500" cy="12633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QC, 운형, 운고는 결측치 80% 이상이므로 모두 제거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지면상태코드와 현상번호는 보간할 방법이 전무해서 제거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167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32620" y="1277570"/>
            <a:ext cx="54460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운형과 운고는 왜 결측치가 40%가 넘어가는가.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8088" y="1948122"/>
            <a:ext cx="115252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0613" y="1948122"/>
            <a:ext cx="11144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4963" y="1948122"/>
            <a:ext cx="113347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8426" y="1948125"/>
            <a:ext cx="1095375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2378078" y="1585338"/>
            <a:ext cx="1954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운형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24953" y="1585338"/>
            <a:ext cx="1954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운고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26950" y="5038950"/>
            <a:ext cx="8224800" cy="11760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밤 시간 대에 운형과 운고의 측정을 하지 않는 것을 어느정도 유추할 수 있지만 확실하지 않음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결측치가 규칙성없이 분포되어 있고, 결측치 또한 40%가 넘어가므로, 이를 제거한다.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49d0839e0a_7_29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149d0839e0a_7_29"/>
          <p:cNvSpPr/>
          <p:nvPr/>
        </p:nvSpPr>
        <p:spPr>
          <a:xfrm>
            <a:off x="432620" y="1277570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일사량과 일조량은 해가 떠 있을 때만 관측된다.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149d0839e0a_7_29"/>
          <p:cNvSpPr/>
          <p:nvPr/>
        </p:nvSpPr>
        <p:spPr>
          <a:xfrm>
            <a:off x="926975" y="1668075"/>
            <a:ext cx="8295000" cy="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일조량과 일사량의 결측치를 보간하기 위해선, 해가 뜬 시간과 해가 진 시간을 알야야한다.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천문관측 API를 통해 해가 뜬 시간과 해가 진 시간을 불러오자.</a:t>
            </a:r>
            <a:endParaRPr/>
          </a:p>
        </p:txBody>
      </p:sp>
      <p:pic>
        <p:nvPicPr>
          <p:cNvPr id="103" name="Google Shape;103;g149d0839e0a_7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2375775"/>
            <a:ext cx="3048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149d0839e0a_7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975" y="4452600"/>
            <a:ext cx="90487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49d0839e0a_7_29"/>
          <p:cNvSpPr/>
          <p:nvPr/>
        </p:nvSpPr>
        <p:spPr>
          <a:xfrm>
            <a:off x="891850" y="3392504"/>
            <a:ext cx="8295000" cy="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이 후, 해가 뜬 시간과 진 시간의 사이는 그대로 일조량과 일사량을 불러온다.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해가 진 시간 대는 모두 0으로 대치한다.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이 모든 작업 이후에 결측이 다시 발생한다면, ffill로 보간한다.</a:t>
            </a:r>
            <a:endParaRPr/>
          </a:p>
        </p:txBody>
      </p:sp>
      <p:sp>
        <p:nvSpPr>
          <p:cNvPr id="106" name="Google Shape;106;g149d0839e0a_7_29"/>
          <p:cNvSpPr/>
          <p:nvPr/>
        </p:nvSpPr>
        <p:spPr>
          <a:xfrm>
            <a:off x="891850" y="5148225"/>
            <a:ext cx="8295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앞서, 일조, 일사에 대한 QC는 결측값이 50% 정도였다. 이는 해가 진 시간을 고려하지 않았기 때문에 50%의 결측치로 이루어진 것이지, 사실상 해가 진 시간을 모두 고려하면 80% 이상의 결측치가 존재하기 때문에 이를 제거한다.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9d0839e0a_7_47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49d0839e0a_7_47"/>
          <p:cNvSpPr/>
          <p:nvPr/>
        </p:nvSpPr>
        <p:spPr>
          <a:xfrm>
            <a:off x="432620" y="2638758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강수량, 적설, 3시간신적설에 대한 결측치 처리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149d0839e0a_7_47"/>
          <p:cNvSpPr/>
          <p:nvPr/>
        </p:nvSpPr>
        <p:spPr>
          <a:xfrm>
            <a:off x="926975" y="3029263"/>
            <a:ext cx="8295000" cy="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비가 올 때, 눈이 올 때만 강수량, 적설, 3시간신적설은 관측된다.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즉, 관측이 안된 결측치는 모두 0으로 채워도 무방하다.</a:t>
            </a:r>
            <a:endParaRPr/>
          </a:p>
        </p:txBody>
      </p:sp>
      <p:pic>
        <p:nvPicPr>
          <p:cNvPr id="114" name="Google Shape;114;g149d0839e0a_7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3889338"/>
            <a:ext cx="522922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9d0839e0a_13_23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149d0839e0a_13_23"/>
          <p:cNvSpPr/>
          <p:nvPr/>
        </p:nvSpPr>
        <p:spPr>
          <a:xfrm>
            <a:off x="432624" y="1314000"/>
            <a:ext cx="2361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변수 추가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149d0839e0a_13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49" y="5522375"/>
            <a:ext cx="642410" cy="5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149d0839e0a_13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75" y="2551437"/>
            <a:ext cx="3224826" cy="25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149d0839e0a_13_23"/>
          <p:cNvPicPr preferRelativeResize="0"/>
          <p:nvPr/>
        </p:nvPicPr>
        <p:blipFill rotWithShape="1">
          <a:blip r:embed="rId5">
            <a:alphaModFix/>
          </a:blip>
          <a:srcRect b="1127"/>
          <a:stretch/>
        </p:blipFill>
        <p:spPr>
          <a:xfrm>
            <a:off x="3358550" y="2551425"/>
            <a:ext cx="3224824" cy="256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149d0839e0a_13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1875" y="2591450"/>
            <a:ext cx="3174481" cy="25261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9d0839e0a_13_23"/>
          <p:cNvSpPr/>
          <p:nvPr/>
        </p:nvSpPr>
        <p:spPr>
          <a:xfrm>
            <a:off x="656999" y="2172125"/>
            <a:ext cx="2361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시간대(1~24)별 PM10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149d0839e0a_13_23"/>
          <p:cNvSpPr/>
          <p:nvPr/>
        </p:nvSpPr>
        <p:spPr>
          <a:xfrm>
            <a:off x="3971287" y="2172125"/>
            <a:ext cx="2361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월(1~12)별 PM10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149d0839e0a_13_23"/>
          <p:cNvSpPr/>
          <p:nvPr/>
        </p:nvSpPr>
        <p:spPr>
          <a:xfrm>
            <a:off x="7140712" y="2172125"/>
            <a:ext cx="2361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5210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/>
              <a:t>일자(1~31)별 PM10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149d0839e0a_13_23"/>
          <p:cNvSpPr/>
          <p:nvPr/>
        </p:nvSpPr>
        <p:spPr>
          <a:xfrm>
            <a:off x="1400475" y="5335555"/>
            <a:ext cx="8295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위의 분석 내용을 참고하여 변수를 추가 해 보았다.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실제로 정확도가 기존보다 의미있는 수준으로 향상되었다.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9d0839e0a_7_69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149d0839e0a_7_69"/>
          <p:cNvSpPr/>
          <p:nvPr/>
        </p:nvSpPr>
        <p:spPr>
          <a:xfrm>
            <a:off x="432620" y="1304608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전처리 함수 정의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149d0839e0a_7_69"/>
          <p:cNvSpPr/>
          <p:nvPr/>
        </p:nvSpPr>
        <p:spPr>
          <a:xfrm>
            <a:off x="926975" y="1695130"/>
            <a:ext cx="8295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위의 모든 내용을 전처리 함수로 빠르게 보간한다.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전처리 내용을 함수화 시켜, </a:t>
            </a:r>
            <a:r>
              <a:rPr lang="ko-KR" b="1"/>
              <a:t>프로젝트의 일관성을 유지하고, 코드의 공유가 용이해졌다.</a:t>
            </a:r>
            <a:endParaRPr b="1"/>
          </a:p>
        </p:txBody>
      </p:sp>
      <p:pic>
        <p:nvPicPr>
          <p:cNvPr id="136" name="Google Shape;136;g149d0839e0a_7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75" y="2598955"/>
            <a:ext cx="677227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149d0839e0a_7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75" y="4037225"/>
            <a:ext cx="8823850" cy="137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149d0839e0a_7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949" y="5522375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49d0839e0a_7_69"/>
          <p:cNvSpPr/>
          <p:nvPr/>
        </p:nvSpPr>
        <p:spPr>
          <a:xfrm>
            <a:off x="1257175" y="5663650"/>
            <a:ext cx="7887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위의 코드 이외에도 함수를 이용해 코드 공유를 활성화시켰다.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9d0839e0a_13_4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4911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변수 분석 내용 정리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149d0839e0a_13_40"/>
          <p:cNvSpPr/>
          <p:nvPr/>
        </p:nvSpPr>
        <p:spPr>
          <a:xfrm>
            <a:off x="432625" y="1361025"/>
            <a:ext cx="444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ko-KR" b="1"/>
              <a:t>변수로 써 PM10(현재) 에 대해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146" name="Google Shape;146;g149d0839e0a_13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399" y="5372850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149d0839e0a_13_40"/>
          <p:cNvSpPr/>
          <p:nvPr/>
        </p:nvSpPr>
        <p:spPr>
          <a:xfrm>
            <a:off x="100975" y="3448950"/>
            <a:ext cx="5113200" cy="15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대부분 모델에서 넣지 않았을 경우보다 정확도가 매우 높게 나온다.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하지만 자칫하면 위의 그래프와 같이 그저 현재 </a:t>
            </a:r>
            <a:r>
              <a:rPr lang="ko-KR" b="1">
                <a:solidFill>
                  <a:schemeClr val="dk1"/>
                </a:solidFill>
              </a:rPr>
              <a:t>PM10수치만 따라하는</a:t>
            </a:r>
            <a:r>
              <a:rPr lang="ko-KR">
                <a:solidFill>
                  <a:schemeClr val="dk1"/>
                </a:solidFill>
              </a:rPr>
              <a:t> 모델이 만들어 질 수도 있다.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하지만 그렇다고 PM10수치를 </a:t>
            </a:r>
            <a:r>
              <a:rPr lang="ko-KR" b="1">
                <a:solidFill>
                  <a:schemeClr val="dk1"/>
                </a:solidFill>
              </a:rPr>
              <a:t>뺀다면 기준값을 모델이 알 수 없으므로</a:t>
            </a:r>
            <a:r>
              <a:rPr lang="ko-KR">
                <a:solidFill>
                  <a:schemeClr val="dk1"/>
                </a:solidFill>
              </a:rPr>
              <a:t> 정확도가 </a:t>
            </a:r>
            <a:r>
              <a:rPr lang="ko-KR" b="1">
                <a:solidFill>
                  <a:schemeClr val="dk1"/>
                </a:solidFill>
              </a:rPr>
              <a:t>매우 낮아진다</a:t>
            </a:r>
            <a:r>
              <a:rPr lang="ko-K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8" name="Google Shape;148;g149d0839e0a_13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42" y="1928575"/>
            <a:ext cx="4966635" cy="14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149d0839e0a_13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0050" y="1411175"/>
            <a:ext cx="4272312" cy="12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149d0839e0a_13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7922" y="2721250"/>
            <a:ext cx="3336575" cy="119328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49d0839e0a_13_40"/>
          <p:cNvSpPr/>
          <p:nvPr/>
        </p:nvSpPr>
        <p:spPr>
          <a:xfrm>
            <a:off x="5460048" y="3903125"/>
            <a:ext cx="4272300" cy="13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실제로 위와같이 </a:t>
            </a:r>
            <a:r>
              <a:rPr lang="ko-KR" b="1">
                <a:solidFill>
                  <a:schemeClr val="dk1"/>
                </a:solidFill>
              </a:rPr>
              <a:t>모델의 학습없이</a:t>
            </a:r>
            <a:r>
              <a:rPr lang="ko-KR">
                <a:solidFill>
                  <a:schemeClr val="dk1"/>
                </a:solidFill>
              </a:rPr>
              <a:t> 현재 </a:t>
            </a:r>
            <a:r>
              <a:rPr lang="ko-KR" b="1">
                <a:solidFill>
                  <a:schemeClr val="dk1"/>
                </a:solidFill>
              </a:rPr>
              <a:t>PM10수치를 그대로</a:t>
            </a:r>
            <a:r>
              <a:rPr lang="ko-KR">
                <a:solidFill>
                  <a:schemeClr val="dk1"/>
                </a:solidFill>
              </a:rPr>
              <a:t> 예측값으로 했을경우 실제로</a:t>
            </a:r>
            <a:r>
              <a:rPr lang="ko-KR" b="1">
                <a:solidFill>
                  <a:schemeClr val="dk1"/>
                </a:solidFill>
              </a:rPr>
              <a:t> R-2score0.93 , RMSE 6.2수준</a:t>
            </a:r>
            <a:r>
              <a:rPr lang="ko-KR">
                <a:solidFill>
                  <a:schemeClr val="dk1"/>
                </a:solidFill>
              </a:rPr>
              <a:t>이 나오게된다.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g149d0839e0a_13_40"/>
          <p:cNvSpPr/>
          <p:nvPr/>
        </p:nvSpPr>
        <p:spPr>
          <a:xfrm>
            <a:off x="1740350" y="5136450"/>
            <a:ext cx="73848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따라서 PM10을 변수로 사용 하되,  </a:t>
            </a:r>
            <a:r>
              <a:rPr lang="ko-KR" b="1">
                <a:solidFill>
                  <a:schemeClr val="dk1"/>
                </a:solidFill>
              </a:rPr>
              <a:t>그냥 PM10만 사용하여 예측한 것 보다 정확도가 높아야</a:t>
            </a:r>
            <a:r>
              <a:rPr lang="ko-KR">
                <a:solidFill>
                  <a:schemeClr val="dk1"/>
                </a:solidFill>
              </a:rPr>
              <a:t> 모델로 분석하는 의미가 있다고 할 수 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</a:pPr>
            <a:r>
              <a:rPr lang="ko-KR">
                <a:solidFill>
                  <a:schemeClr val="dk1"/>
                </a:solidFill>
              </a:rPr>
              <a:t> 정확도가</a:t>
            </a:r>
            <a:r>
              <a:rPr lang="ko-KR" b="1">
                <a:solidFill>
                  <a:schemeClr val="dk1"/>
                </a:solidFill>
              </a:rPr>
              <a:t> R-2score0.93 , RMSE 6.2보다 높은 모델을 목표</a:t>
            </a:r>
            <a:r>
              <a:rPr lang="ko-KR">
                <a:solidFill>
                  <a:schemeClr val="dk1"/>
                </a:solidFill>
              </a:rPr>
              <a:t>로 다중공선성을 피하기위한 방법이나 영향을 적게 받는 모델을 선정하여 분석을 진행한다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403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>
            <a:spLocks noGrp="1"/>
          </p:cNvSpPr>
          <p:nvPr>
            <p:ph type="body" idx="1"/>
          </p:nvPr>
        </p:nvSpPr>
        <p:spPr>
          <a:xfrm>
            <a:off x="449612" y="1338453"/>
            <a:ext cx="874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29517" lvl="1" indent="-17741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ko-KR"/>
              <a:t>변수 선택 방법 - RFECV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50" y="1832075"/>
            <a:ext cx="5879675" cy="29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9425" y="1338443"/>
            <a:ext cx="3126001" cy="270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9425" y="3997250"/>
            <a:ext cx="3306585" cy="2387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1050875" y="4827175"/>
            <a:ext cx="4814400" cy="150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891231" y="4840825"/>
            <a:ext cx="5050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변수 선택을 위해 RFECV 방법 사용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LGBMRegressor 사용, feature가 1개 남을 때까지 1개씩 줄여가며 진행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선택된 변수로 LGBMRegrssor 모델 학습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결과 ) RMSE : 5.99 , R2 Score : 0.93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XGB, GradientBoosting 등 사용해봤지만 성능 안좋아짐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9d0839e0a_15_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149d0839e0a_1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00" y="1193925"/>
            <a:ext cx="7061675" cy="43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149d0839e0a_15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4000" y="4221825"/>
            <a:ext cx="6480449" cy="19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9d0839e0a_15_0"/>
          <p:cNvSpPr/>
          <p:nvPr/>
        </p:nvSpPr>
        <p:spPr>
          <a:xfrm>
            <a:off x="4898450" y="2676600"/>
            <a:ext cx="4626000" cy="150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149d0839e0a_15_0"/>
          <p:cNvSpPr txBox="1"/>
          <p:nvPr/>
        </p:nvSpPr>
        <p:spPr>
          <a:xfrm>
            <a:off x="5019800" y="2797950"/>
            <a:ext cx="4383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대기 결측치 처리는 계절성이 없다고 판단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          (Mice, KNN, Iterator 3개를 사용) -&gt; Mice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모델은 RF, GB, XGB, ADA, LGBM, CAT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 성능이 괜찮은 xgb, rf, gb,cat, lgbm으로 스태킹시도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9d0839e0a_13_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149d0839e0a_1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76" y="1956690"/>
            <a:ext cx="8447734" cy="410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149d0839e0a_13_0"/>
          <p:cNvSpPr txBox="1"/>
          <p:nvPr/>
        </p:nvSpPr>
        <p:spPr>
          <a:xfrm>
            <a:off x="704776" y="1374325"/>
            <a:ext cx="23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/>
              <a:t>LinearRegression</a:t>
            </a:r>
            <a:endParaRPr sz="1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9d0839e0a_0_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149d0839e0a_0_0"/>
          <p:cNvSpPr txBox="1"/>
          <p:nvPr/>
        </p:nvSpPr>
        <p:spPr>
          <a:xfrm>
            <a:off x="7727413" y="4041350"/>
            <a:ext cx="15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149d0839e0a_0_0"/>
          <p:cNvSpPr txBox="1"/>
          <p:nvPr/>
        </p:nvSpPr>
        <p:spPr>
          <a:xfrm>
            <a:off x="280638" y="1201250"/>
            <a:ext cx="219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/>
              <a:t>RandomForest</a:t>
            </a:r>
            <a:endParaRPr sz="1600" b="1"/>
          </a:p>
        </p:txBody>
      </p:sp>
      <p:pic>
        <p:nvPicPr>
          <p:cNvPr id="187" name="Google Shape;187;g149d0839e0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0" y="1732350"/>
            <a:ext cx="9502425" cy="2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149d0839e0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8275" y="2664250"/>
            <a:ext cx="4114800" cy="36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49d0839e0a_12_0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149d0839e0a_12_0"/>
          <p:cNvSpPr txBox="1">
            <a:spLocks noGrp="1"/>
          </p:cNvSpPr>
          <p:nvPr>
            <p:ph type="body" idx="1"/>
          </p:nvPr>
        </p:nvSpPr>
        <p:spPr>
          <a:xfrm>
            <a:off x="-355475" y="1368875"/>
            <a:ext cx="233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2000"/>
              <a:t>catboost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149d0839e0a_12_0"/>
          <p:cNvSpPr txBox="1"/>
          <p:nvPr/>
        </p:nvSpPr>
        <p:spPr>
          <a:xfrm>
            <a:off x="8461950" y="4163150"/>
            <a:ext cx="15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g149d0839e0a_12_0"/>
          <p:cNvPicPr preferRelativeResize="0"/>
          <p:nvPr/>
        </p:nvPicPr>
        <p:blipFill rotWithShape="1">
          <a:blip r:embed="rId3">
            <a:alphaModFix/>
          </a:blip>
          <a:srcRect l="10146" t="27739" r="11013" b="15393"/>
          <a:stretch/>
        </p:blipFill>
        <p:spPr>
          <a:xfrm>
            <a:off x="635750" y="2036675"/>
            <a:ext cx="4567524" cy="2294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149d0839e0a_12_0"/>
          <p:cNvPicPr preferRelativeResize="0"/>
          <p:nvPr/>
        </p:nvPicPr>
        <p:blipFill rotWithShape="1">
          <a:blip r:embed="rId4">
            <a:alphaModFix/>
          </a:blip>
          <a:srcRect l="14376" t="34176" r="38765" b="54887"/>
          <a:stretch/>
        </p:blipFill>
        <p:spPr>
          <a:xfrm>
            <a:off x="635750" y="4563350"/>
            <a:ext cx="4567524" cy="74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149d0839e0a_1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9425" y="2531975"/>
            <a:ext cx="4127675" cy="27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49d0839e0a_13_7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3186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조별 토론 과정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149d0839e0a_13_7"/>
          <p:cNvSpPr txBox="1">
            <a:spLocks noGrp="1"/>
          </p:cNvSpPr>
          <p:nvPr>
            <p:ph type="body" idx="1"/>
          </p:nvPr>
        </p:nvSpPr>
        <p:spPr>
          <a:xfrm>
            <a:off x="449612" y="1338453"/>
            <a:ext cx="874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29517" lvl="1" indent="-17741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ko-KR"/>
              <a:t>변화량 예측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149d0839e0a_13_7"/>
          <p:cNvSpPr txBox="1"/>
          <p:nvPr/>
        </p:nvSpPr>
        <p:spPr>
          <a:xfrm>
            <a:off x="8327400" y="1644075"/>
            <a:ext cx="15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g149d0839e0a_1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75" y="1902900"/>
            <a:ext cx="5429001" cy="15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149d0839e0a_13_7"/>
          <p:cNvSpPr/>
          <p:nvPr/>
        </p:nvSpPr>
        <p:spPr>
          <a:xfrm>
            <a:off x="2828988" y="3495813"/>
            <a:ext cx="272700" cy="59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g149d0839e0a_13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021" y="4086224"/>
            <a:ext cx="3636654" cy="24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149d0839e0a_13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9133" y="2659425"/>
            <a:ext cx="3056659" cy="103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149d0839e0a_13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9125" y="1962600"/>
            <a:ext cx="3056675" cy="6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149d0839e0a_13_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3719" y="4496625"/>
            <a:ext cx="4103328" cy="12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9d0839e0a_7_106"/>
          <p:cNvSpPr txBox="1">
            <a:spLocks noGrp="1"/>
          </p:cNvSpPr>
          <p:nvPr>
            <p:ph type="title"/>
          </p:nvPr>
        </p:nvSpPr>
        <p:spPr>
          <a:xfrm>
            <a:off x="432626" y="510875"/>
            <a:ext cx="62148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149d0839e0a_7_106"/>
          <p:cNvSpPr/>
          <p:nvPr/>
        </p:nvSpPr>
        <p:spPr>
          <a:xfrm>
            <a:off x="432620" y="1163908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Tree기반 모델에서 다중 공선성을 생각해야 하는가?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149d0839e0a_7_106"/>
          <p:cNvSpPr/>
          <p:nvPr/>
        </p:nvSpPr>
        <p:spPr>
          <a:xfrm>
            <a:off x="926975" y="1554423"/>
            <a:ext cx="82950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다중 공선성을 </a:t>
            </a:r>
            <a:r>
              <a:rPr lang="ko-KR" b="1"/>
              <a:t>선형 회귀 모델의 기본 가정을 위배하기 때문에 생기는 문제</a:t>
            </a:r>
            <a:r>
              <a:rPr lang="ko-KR"/>
              <a:t>이다.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Tree 기반의 모델은 선형 회귀 (Linear Regression)이 아니기 때문에 고려할 필요가 없다.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물론, 트리모델의 경우 각 노드에 사용될 변수를 선택하는 기준에 영향을 줄 수는 있으나, </a:t>
            </a:r>
            <a:r>
              <a:rPr lang="ko-KR" b="1"/>
              <a:t>결과 자체에 영향을 주지 않는다</a:t>
            </a:r>
            <a:r>
              <a:rPr lang="ko-KR"/>
              <a:t>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CATBOOST는 </a:t>
            </a:r>
            <a:r>
              <a:rPr lang="ko-KR" b="1"/>
              <a:t>피처의 일부만 사용</a:t>
            </a:r>
            <a:r>
              <a:rPr lang="ko-KR"/>
              <a:t>하기 때문에, 이러한 영향을 덜 받는다.</a:t>
            </a:r>
            <a:endParaRPr/>
          </a:p>
        </p:txBody>
      </p:sp>
      <p:pic>
        <p:nvPicPr>
          <p:cNvPr id="219" name="Google Shape;219;g149d0839e0a_7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49" y="3098250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149d0839e0a_7_106"/>
          <p:cNvSpPr/>
          <p:nvPr/>
        </p:nvSpPr>
        <p:spPr>
          <a:xfrm>
            <a:off x="1334075" y="3087125"/>
            <a:ext cx="78879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결론적으로, target과 상관성이 높은 PM10의 과거 관측치를 최대한 이용하고, 많은 변수들을 선택하여 모델이 PM10에만 의존하지 않도록 해야한다.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149d0839e0a_7_106"/>
          <p:cNvSpPr/>
          <p:nvPr/>
        </p:nvSpPr>
        <p:spPr>
          <a:xfrm>
            <a:off x="558320" y="3677532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Tree기반 모델에서 </a:t>
            </a:r>
            <a:r>
              <a:rPr lang="ko-KR" b="1"/>
              <a:t>시계열을 인식</a:t>
            </a:r>
            <a:r>
              <a:rPr lang="ko-KR"/>
              <a:t>하는가?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149d0839e0a_7_106"/>
          <p:cNvSpPr/>
          <p:nvPr/>
        </p:nvSpPr>
        <p:spPr>
          <a:xfrm>
            <a:off x="1052675" y="4068048"/>
            <a:ext cx="82950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✔"/>
            </a:pPr>
            <a:r>
              <a:rPr lang="ko-KR"/>
              <a:t>분석 단위는 한 시간 단위이고, </a:t>
            </a:r>
            <a:r>
              <a:rPr lang="ko-KR" b="1"/>
              <a:t>과거 관측치들을 열 방향으로 concat하여 더욱 먼 과거를 인식</a:t>
            </a:r>
            <a:r>
              <a:rPr lang="ko-KR"/>
              <a:t>하게 할 수 있지만, </a:t>
            </a:r>
            <a:r>
              <a:rPr lang="ko-KR" b="1"/>
              <a:t>이러한 변수들이 시간에 영향을 받는다는 것을 Tree기반 모델에서는 알지 못한다.</a:t>
            </a:r>
            <a:endParaRPr b="1"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또한, 너</a:t>
            </a:r>
            <a:r>
              <a:rPr lang="ko-KR" b="1"/>
              <a:t>무 많은 과거 관측치들을 열 방향으로 concat</a:t>
            </a:r>
            <a:r>
              <a:rPr lang="ko-KR"/>
              <a:t>하면, 열의 개수가 많아져 </a:t>
            </a:r>
            <a:r>
              <a:rPr lang="ko-KR" b="1"/>
              <a:t>차원의 저주</a:t>
            </a:r>
            <a:r>
              <a:rPr lang="ko-KR"/>
              <a:t>에 빠질 가능성이 매우 크므로 지양해야 한다.</a:t>
            </a:r>
            <a:endParaRPr/>
          </a:p>
          <a:p>
            <a:pPr marL="252108" marR="0" lvl="0" indent="-247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✔"/>
            </a:pPr>
            <a:r>
              <a:rPr lang="ko-KR"/>
              <a:t>우리가 할 수 있는 것은,  Tree모형을 선택했다면 </a:t>
            </a:r>
            <a:r>
              <a:rPr lang="ko-KR" b="1"/>
              <a:t>최대한 시계열로 인식시킬 수 없게 만들어야 한다</a:t>
            </a:r>
            <a:r>
              <a:rPr lang="ko-KR"/>
              <a:t>는 것이다.</a:t>
            </a:r>
            <a:endParaRPr/>
          </a:p>
        </p:txBody>
      </p:sp>
      <p:pic>
        <p:nvPicPr>
          <p:cNvPr id="223" name="Google Shape;223;g149d0839e0a_7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49" y="5611875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149d0839e0a_7_106"/>
          <p:cNvSpPr/>
          <p:nvPr/>
        </p:nvSpPr>
        <p:spPr>
          <a:xfrm>
            <a:off x="1334075" y="5600750"/>
            <a:ext cx="78879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시계열을 분해하여 넣으면 </a:t>
            </a:r>
            <a:r>
              <a:rPr lang="ko-KR" b="1"/>
              <a:t>noise가 제거된 추세와 주기성</a:t>
            </a:r>
            <a:r>
              <a:rPr lang="ko-KR"/>
              <a:t>도 넣을 수 있고,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/>
              <a:t>time에 영향을 받지 않는 잔차를 모델이 고려</a:t>
            </a:r>
            <a:r>
              <a:rPr lang="ko-KR"/>
              <a:t>하여, 최대한 시계열 요소를 넣으면서 모델에 시계열 요소를 고려하지 않게 만들 수 있을 것이라 생각했다.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9d0839e0a_7_80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149d0839e0a_7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75" y="1451175"/>
            <a:ext cx="4446926" cy="444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149d0839e0a_7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094149" y="1683775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149d0839e0a_7_80"/>
          <p:cNvSpPr/>
          <p:nvPr/>
        </p:nvSpPr>
        <p:spPr>
          <a:xfrm>
            <a:off x="6131625" y="1808850"/>
            <a:ext cx="3195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원본 데이터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149d0839e0a_7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094149" y="2856625"/>
            <a:ext cx="642410" cy="5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149d0839e0a_7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094149" y="3866375"/>
            <a:ext cx="642410" cy="5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149d0839e0a_7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094149" y="5001575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149d0839e0a_7_80"/>
          <p:cNvSpPr/>
          <p:nvPr/>
        </p:nvSpPr>
        <p:spPr>
          <a:xfrm>
            <a:off x="6131625" y="2981700"/>
            <a:ext cx="3195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추세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149d0839e0a_7_80"/>
          <p:cNvSpPr/>
          <p:nvPr/>
        </p:nvSpPr>
        <p:spPr>
          <a:xfrm>
            <a:off x="6131625" y="3991450"/>
            <a:ext cx="3195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계절성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149d0839e0a_7_80"/>
          <p:cNvSpPr/>
          <p:nvPr/>
        </p:nvSpPr>
        <p:spPr>
          <a:xfrm>
            <a:off x="6131625" y="5126650"/>
            <a:ext cx="3195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잔차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49d0839e0a_7_121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149d0839e0a_7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1406075"/>
            <a:ext cx="69342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149d0839e0a_7_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00" y="2453825"/>
            <a:ext cx="68008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149d0839e0a_7_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325" y="3444425"/>
            <a:ext cx="67818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49d0839e0a_7_121"/>
          <p:cNvSpPr/>
          <p:nvPr/>
        </p:nvSpPr>
        <p:spPr>
          <a:xfrm>
            <a:off x="926950" y="4796975"/>
            <a:ext cx="8224800" cy="11760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위의 코드를 이용하여 잔차, 추세, 계절성에 대한 정보를 모두 데이터 프레임에 담아 내었다.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 b="1"/>
              <a:t>Data Leakage 주의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seasonal_decompose시 과거 이동평균만 이용해서 추세, 계절성, 주기를 뽑기 위해서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		</a:t>
            </a:r>
            <a:r>
              <a:rPr lang="ko-KR" b="1"/>
              <a:t>two_sided = False</a:t>
            </a:r>
            <a:r>
              <a:rPr lang="ko-KR"/>
              <a:t>로 놓았다.</a:t>
            </a:r>
            <a:endParaRPr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이 옵션을 사용해야 모델은 과거값만 고려하게 되고, 미래 값을 전혀 사용하지 않는다.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49d0839e0a_7_138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149d0839e0a_7_138"/>
          <p:cNvSpPr/>
          <p:nvPr/>
        </p:nvSpPr>
        <p:spPr>
          <a:xfrm>
            <a:off x="926950" y="4796975"/>
            <a:ext cx="8224800" cy="11760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자기 상관성을 고려해볼 때, 2~4시점까지 현재 값과 상관성이 크다는 것을 알 수 있다.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이는 1번의 차분을 거친 데이터의 자기 상관성 그래프인데, 차분을 하지 않게되면, 자기 상관을 띄는 시점이 굉장히 많아지기 때문에, 차분을 한 후, 실제로 유의미게 영향을 끼치는 시점만 고려하도록 하였다.</a:t>
            </a:r>
            <a:endParaRPr/>
          </a:p>
        </p:txBody>
      </p:sp>
      <p:sp>
        <p:nvSpPr>
          <p:cNvPr id="254" name="Google Shape;254;g149d0839e0a_7_138"/>
          <p:cNvSpPr/>
          <p:nvPr/>
        </p:nvSpPr>
        <p:spPr>
          <a:xfrm>
            <a:off x="432626" y="1163900"/>
            <a:ext cx="5992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자기 상관성을 통해 어느 시점까지 영향력이 있는지 판단한다.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149d0839e0a_7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100" y="1738101"/>
            <a:ext cx="4082950" cy="27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9d0839e0a_7_148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149d0839e0a_7_148"/>
          <p:cNvSpPr/>
          <p:nvPr/>
        </p:nvSpPr>
        <p:spPr>
          <a:xfrm>
            <a:off x="432625" y="11639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Target은 로그 변환을 통해 정규분포와 비슷한 모양을 가지도록 하였다.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g149d0839e0a_7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950" y="1620038"/>
            <a:ext cx="20383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149d0839e0a_7_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950" y="2039138"/>
            <a:ext cx="23241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149d0839e0a_7_148"/>
          <p:cNvSpPr/>
          <p:nvPr/>
        </p:nvSpPr>
        <p:spPr>
          <a:xfrm>
            <a:off x="926950" y="2444650"/>
            <a:ext cx="8224800" cy="5280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왜곡된 target값의 분포로 인해서 예측 성능에 부정적인 영향을 미친 가능성을 배제</a:t>
            </a:r>
            <a:endParaRPr/>
          </a:p>
        </p:txBody>
      </p:sp>
      <p:sp>
        <p:nvSpPr>
          <p:cNvPr id="265" name="Google Shape;265;g149d0839e0a_7_148"/>
          <p:cNvSpPr/>
          <p:nvPr/>
        </p:nvSpPr>
        <p:spPr>
          <a:xfrm>
            <a:off x="593437" y="31771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Target은 로그 변환을 통해 정규분포와 비슷한 모양을 가지도록 하였다.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149d0839e0a_7_148"/>
          <p:cNvSpPr/>
          <p:nvPr/>
        </p:nvSpPr>
        <p:spPr>
          <a:xfrm>
            <a:off x="1087763" y="5448450"/>
            <a:ext cx="8224800" cy="5280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방위와 분위는 범주형 자료이므로, 범주형으로 형변환</a:t>
            </a:r>
            <a:endParaRPr/>
          </a:p>
        </p:txBody>
      </p:sp>
      <p:pic>
        <p:nvPicPr>
          <p:cNvPr id="267" name="Google Shape;267;g149d0839e0a_7_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1275" y="3945600"/>
            <a:ext cx="21812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149d0839e0a_7_1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2500" y="4210750"/>
            <a:ext cx="49720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9d0839e0a_7_164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149d0839e0a_7_164"/>
          <p:cNvSpPr/>
          <p:nvPr/>
        </p:nvSpPr>
        <p:spPr>
          <a:xfrm>
            <a:off x="432625" y="11639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CATBOOST를 이용한 모델링.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149d0839e0a_7_164"/>
          <p:cNvSpPr/>
          <p:nvPr/>
        </p:nvSpPr>
        <p:spPr>
          <a:xfrm>
            <a:off x="935625" y="2205550"/>
            <a:ext cx="8224800" cy="7671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CatBoost를 이용한 예측을 진행하였다.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GPU가 학습속도가 빠르기 때문에 사용하였고, 재현성을 위해서 모델을 저장하였다.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	(GPU : NVIDIA GeForce RTX 3050 Laptop GPU)</a:t>
            </a:r>
            <a:endParaRPr/>
          </a:p>
        </p:txBody>
      </p:sp>
      <p:pic>
        <p:nvPicPr>
          <p:cNvPr id="276" name="Google Shape;276;g149d0839e0a_7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4100"/>
            <a:ext cx="9601201" cy="42905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149d0839e0a_7_164"/>
          <p:cNvSpPr/>
          <p:nvPr/>
        </p:nvSpPr>
        <p:spPr>
          <a:xfrm>
            <a:off x="432625" y="32386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변수 중요도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149d0839e0a_7_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625" y="3611700"/>
            <a:ext cx="30194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149d0839e0a_7_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5050" y="3611700"/>
            <a:ext cx="28575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149d0839e0a_7_1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2550" y="3611700"/>
            <a:ext cx="278865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149d0839e0a_7_164"/>
          <p:cNvSpPr/>
          <p:nvPr/>
        </p:nvSpPr>
        <p:spPr>
          <a:xfrm>
            <a:off x="935625" y="5543900"/>
            <a:ext cx="8224800" cy="7671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과거 시점의 미세먼지 농도가 상관성이 가장 크므로 당연히 중요하다.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이 후, 잔차&gt;&gt;추세&gt;&gt;계절성 순으로 중요하다.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즉, 모델은 </a:t>
            </a:r>
            <a:r>
              <a:rPr lang="ko-KR" b="1"/>
              <a:t>시계열적인 요소를 제거했을 때 더 정확해진다는 것이 어느정도 입증</a:t>
            </a:r>
            <a:r>
              <a:rPr lang="ko-KR"/>
              <a:t>된다.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9d0839e0a_7_183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49d0839e0a_7_183"/>
          <p:cNvSpPr/>
          <p:nvPr/>
        </p:nvSpPr>
        <p:spPr>
          <a:xfrm>
            <a:off x="432625" y="11639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성능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49d0839e0a_7_183"/>
          <p:cNvSpPr/>
          <p:nvPr/>
        </p:nvSpPr>
        <p:spPr>
          <a:xfrm>
            <a:off x="840600" y="2968975"/>
            <a:ext cx="8224800" cy="5904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rmse가 3.3987, r2_score가 0.9790이 나온다.</a:t>
            </a:r>
            <a:endParaRPr/>
          </a:p>
        </p:txBody>
      </p:sp>
      <p:pic>
        <p:nvPicPr>
          <p:cNvPr id="289" name="Google Shape;289;g149d0839e0a_7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875" y="1524500"/>
            <a:ext cx="49244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149d0839e0a_7_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125" y="3679875"/>
            <a:ext cx="35433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149d0839e0a_7_1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649424" y="4422300"/>
            <a:ext cx="642410" cy="5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149d0839e0a_7_183"/>
          <p:cNvSpPr/>
          <p:nvPr/>
        </p:nvSpPr>
        <p:spPr>
          <a:xfrm>
            <a:off x="5686900" y="4547375"/>
            <a:ext cx="3195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어느정도 비슷하다.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9d0839e0a_7_199"/>
          <p:cNvSpPr txBox="1">
            <a:spLocks noGrp="1"/>
          </p:cNvSpPr>
          <p:nvPr>
            <p:ph type="title"/>
          </p:nvPr>
        </p:nvSpPr>
        <p:spPr>
          <a:xfrm>
            <a:off x="432624" y="510875"/>
            <a:ext cx="64137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시계열 분해 요소를 이용한 모델링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149d0839e0a_7_199"/>
          <p:cNvSpPr/>
          <p:nvPr/>
        </p:nvSpPr>
        <p:spPr>
          <a:xfrm>
            <a:off x="432625" y="1163900"/>
            <a:ext cx="6647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lang="ko-KR"/>
              <a:t>조금 더 정확한 모델을 위하여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49d0839e0a_7_199"/>
          <p:cNvSpPr/>
          <p:nvPr/>
        </p:nvSpPr>
        <p:spPr>
          <a:xfrm>
            <a:off x="840600" y="2529125"/>
            <a:ext cx="8224800" cy="5904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feature 50개를 제거하고 모델링 한 후, 이를 전체 feature를 사용한 모델과 앙상블시킴.</a:t>
            </a:r>
            <a:endParaRPr/>
          </a:p>
        </p:txBody>
      </p:sp>
      <p:pic>
        <p:nvPicPr>
          <p:cNvPr id="300" name="Google Shape;300;g149d0839e0a_7_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850" y="1616025"/>
            <a:ext cx="3810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149d0839e0a_7_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600" y="3270625"/>
            <a:ext cx="410752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149d0839e0a_7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2675" y="3270625"/>
            <a:ext cx="35433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149d0839e0a_7_199"/>
          <p:cNvSpPr/>
          <p:nvPr/>
        </p:nvSpPr>
        <p:spPr>
          <a:xfrm>
            <a:off x="840600" y="5488650"/>
            <a:ext cx="8224800" cy="590400"/>
          </a:xfrm>
          <a:prstGeom prst="rect">
            <a:avLst/>
          </a:prstGeom>
          <a:solidFill>
            <a:srgbClr val="DBF9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rmse 3.32031, r-score 0.98로 조금더 정교해짐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-KR"/>
              <a:t>outlier 예측을 조금 더 잘함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9d0839e0a_8_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4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추가 분석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149d0839e0a_8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75" y="1854825"/>
            <a:ext cx="4735025" cy="37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149d0839e0a_8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562" y="1890149"/>
            <a:ext cx="4735026" cy="364615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149d0839e0a_8_11"/>
          <p:cNvSpPr/>
          <p:nvPr/>
        </p:nvSpPr>
        <p:spPr>
          <a:xfrm>
            <a:off x="480747" y="1413975"/>
            <a:ext cx="390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2021년 1월 1일 ~ 3월 24일 air data</a:t>
            </a:r>
            <a:endParaRPr/>
          </a:p>
        </p:txBody>
      </p:sp>
      <p:sp>
        <p:nvSpPr>
          <p:cNvPr id="312" name="Google Shape;312;g149d0839e0a_8_11"/>
          <p:cNvSpPr/>
          <p:nvPr/>
        </p:nvSpPr>
        <p:spPr>
          <a:xfrm>
            <a:off x="5382122" y="1465988"/>
            <a:ext cx="390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2022년 1월 1일 ~ 3월 24일 air data</a:t>
            </a:r>
            <a:endParaRPr/>
          </a:p>
        </p:txBody>
      </p:sp>
      <p:sp>
        <p:nvSpPr>
          <p:cNvPr id="313" name="Google Shape;313;g149d0839e0a_8_11"/>
          <p:cNvSpPr/>
          <p:nvPr/>
        </p:nvSpPr>
        <p:spPr>
          <a:xfrm>
            <a:off x="2802000" y="5771525"/>
            <a:ext cx="430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3달 간 분포 비교 시 비슷한 양상을 보임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49d0839e0a_8_22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4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추가 분석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149d0839e0a_8_22"/>
          <p:cNvSpPr/>
          <p:nvPr/>
        </p:nvSpPr>
        <p:spPr>
          <a:xfrm>
            <a:off x="480747" y="1413975"/>
            <a:ext cx="390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2021년 1월 1일 ~ 3월 24일 weather data</a:t>
            </a:r>
            <a:endParaRPr/>
          </a:p>
        </p:txBody>
      </p:sp>
      <p:sp>
        <p:nvSpPr>
          <p:cNvPr id="320" name="Google Shape;320;g149d0839e0a_8_22"/>
          <p:cNvSpPr/>
          <p:nvPr/>
        </p:nvSpPr>
        <p:spPr>
          <a:xfrm>
            <a:off x="5382122" y="1465988"/>
            <a:ext cx="390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2022년 1월 1일 ~ 3월 24일 weather data</a:t>
            </a:r>
            <a:endParaRPr/>
          </a:p>
        </p:txBody>
      </p:sp>
      <p:sp>
        <p:nvSpPr>
          <p:cNvPr id="321" name="Google Shape;321;g149d0839e0a_8_22"/>
          <p:cNvSpPr/>
          <p:nvPr/>
        </p:nvSpPr>
        <p:spPr>
          <a:xfrm>
            <a:off x="2802000" y="5771525"/>
            <a:ext cx="430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3달 간 분포 비교 시 비슷한 양상을 보임</a:t>
            </a:r>
            <a:endParaRPr/>
          </a:p>
        </p:txBody>
      </p:sp>
      <p:pic>
        <p:nvPicPr>
          <p:cNvPr id="322" name="Google Shape;322;g149d0839e0a_8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4175"/>
            <a:ext cx="4772605" cy="37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149d0839e0a_8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7405" y="1949356"/>
            <a:ext cx="4676195" cy="361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Microsoft Office PowerPoint</Application>
  <PresentationFormat>A4 용지(210x297mm)</PresentationFormat>
  <Paragraphs>156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Noto Sans Symbols</vt:lpstr>
      <vt:lpstr>Malgun Gothic</vt:lpstr>
      <vt:lpstr>Arial</vt:lpstr>
      <vt:lpstr>Calibri</vt:lpstr>
      <vt:lpstr>Office 테마</vt:lpstr>
      <vt:lpstr>PowerPoint 프레젠테이션</vt:lpstr>
      <vt:lpstr>변수 분석 내용 정리</vt:lpstr>
      <vt:lpstr>변수 분석 내용 정리</vt:lpstr>
      <vt:lpstr>변수 분석 내용 정리</vt:lpstr>
      <vt:lpstr>변수 분석 내용 정리</vt:lpstr>
      <vt:lpstr>변수 분석 내용 정리</vt:lpstr>
      <vt:lpstr>변수 분석 내용 정리</vt:lpstr>
      <vt:lpstr>변수 분석 내용 정리</vt:lpstr>
      <vt:lpstr>변수 분석 내용 정리</vt:lpstr>
      <vt:lpstr>변수 분석 내용 정리</vt:lpstr>
      <vt:lpstr>조별 토론 과정</vt:lpstr>
      <vt:lpstr>조별 토론 과정</vt:lpstr>
      <vt:lpstr>조별 토론 과정</vt:lpstr>
      <vt:lpstr>조별 토론 과정</vt:lpstr>
      <vt:lpstr>조별 토론 과정</vt:lpstr>
      <vt:lpstr>조별 토론 과정</vt:lpstr>
      <vt:lpstr>시계열 분해 요소를 이용한 모델링 </vt:lpstr>
      <vt:lpstr>시계열 분해 요소를 이용한 모델링</vt:lpstr>
      <vt:lpstr>시계열 분해 요소를 이용한 모델링</vt:lpstr>
      <vt:lpstr>시계열 분해 요소를 이용한 모델링</vt:lpstr>
      <vt:lpstr>시계열 분해 요소를 이용한 모델링</vt:lpstr>
      <vt:lpstr>시계열 분해 요소를 이용한 모델링</vt:lpstr>
      <vt:lpstr>시계열 분해 요소를 이용한 모델링</vt:lpstr>
      <vt:lpstr>시계열 분해 요소를 이용한 모델링</vt:lpstr>
      <vt:lpstr>추가 분석</vt:lpstr>
      <vt:lpstr>추가 분석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modified xsi:type="dcterms:W3CDTF">2022-09-02T03:21:45Z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</Properties>
</file>